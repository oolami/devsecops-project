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with: This spike evaluated the renewal automation path for external DigiCert certificates and looked at Fastly, NSX-ALB, and existing TeamCity automation as implementation building blocks.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manager-focused: not “everything is done,” but research is sufficient to create implementation stories and close the spike.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“why Fastly first?”: the current external services are visible in Fastly and the user clarified external termination is Fastly, not NSX-ALB.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validation is part of implementation because existing TeamCity scripts do not show live endpoint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appendix helps the manager understand which facts are internal discoveries and which are general product capabilities.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515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SSL Certificate Rotation Automation Spike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" y="20574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BEAFE"/>
                </a:solidFill>
              </a:rPr>
              <a:t>Research summary, recommended implementation plan, open questions, and technical debt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2834640"/>
            <a:ext cx="1143000" cy="301752"/>
          </a:xfrm>
          <a:prstGeom prst="rect">
            <a:avLst/>
          </a:prstGeom>
          <a:solidFill>
            <a:srgbClr val="143D66"/>
          </a:solidFill>
          <a:ln>
            <a:solidFill>
              <a:srgbClr val="FFFFFF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WHC-3344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57400" y="2834640"/>
            <a:ext cx="1143000" cy="301752"/>
          </a:xfrm>
          <a:prstGeom prst="rect">
            <a:avLst/>
          </a:prstGeom>
          <a:solidFill>
            <a:srgbClr val="143D66"/>
          </a:solidFill>
          <a:ln>
            <a:solidFill>
              <a:srgbClr val="FFFFFF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DigiCert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337560" y="2834640"/>
            <a:ext cx="914400" cy="301752"/>
          </a:xfrm>
          <a:prstGeom prst="rect">
            <a:avLst/>
          </a:prstGeom>
          <a:solidFill>
            <a:srgbClr val="143D66"/>
          </a:solidFill>
          <a:ln>
            <a:solidFill>
              <a:srgbClr val="FFFFFF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Fastly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89120" y="2834640"/>
            <a:ext cx="1143000" cy="301752"/>
          </a:xfrm>
          <a:prstGeom prst="rect">
            <a:avLst/>
          </a:prstGeom>
          <a:solidFill>
            <a:srgbClr val="143D66"/>
          </a:solidFill>
          <a:ln>
            <a:solidFill>
              <a:srgbClr val="FFFFFF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NSX-ALB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321040" y="1874520"/>
            <a:ext cx="1097280" cy="0"/>
          </a:xfrm>
          <a:prstGeom prst="line">
            <a:avLst/>
          </a:prstGeom>
          <a:noFill/>
          <a:ln w="25400">
            <a:solidFill>
              <a:srgbClr val="93C5FD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418320" y="2788920"/>
            <a:ext cx="1097280" cy="0"/>
          </a:xfrm>
          <a:prstGeom prst="line">
            <a:avLst/>
          </a:prstGeom>
          <a:noFill/>
          <a:ln w="25400">
            <a:solidFill>
              <a:srgbClr val="93C5FD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321040" y="3703320"/>
            <a:ext cx="1097280" cy="0"/>
          </a:xfrm>
          <a:prstGeom prst="line">
            <a:avLst/>
          </a:prstGeom>
          <a:noFill/>
          <a:ln w="25400">
            <a:solidFill>
              <a:srgbClr val="93C5FD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949440" y="1536192"/>
            <a:ext cx="1234440" cy="685800"/>
          </a:xfrm>
          <a:prstGeom prst="rect">
            <a:avLst/>
          </a:prstGeom>
          <a:solidFill>
            <a:srgbClr val="173E68"/>
          </a:solidFill>
          <a:ln w="12700">
            <a:solidFill>
              <a:srgbClr val="3B82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Renew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555480" y="1536192"/>
            <a:ext cx="1280160" cy="685800"/>
          </a:xfrm>
          <a:prstGeom prst="rect">
            <a:avLst/>
          </a:prstGeom>
          <a:solidFill>
            <a:srgbClr val="173E68"/>
          </a:solidFill>
          <a:ln w="12700">
            <a:solidFill>
              <a:srgbClr val="3B82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Retrieve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9440" y="3364992"/>
            <a:ext cx="1234440" cy="685800"/>
          </a:xfrm>
          <a:prstGeom prst="rect">
            <a:avLst/>
          </a:prstGeom>
          <a:solidFill>
            <a:srgbClr val="173E68"/>
          </a:solidFill>
          <a:ln w="12700">
            <a:solidFill>
              <a:srgbClr val="3B82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Deploy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555480" y="2450592"/>
            <a:ext cx="1280160" cy="685800"/>
          </a:xfrm>
          <a:prstGeom prst="rect">
            <a:avLst/>
          </a:prstGeom>
          <a:solidFill>
            <a:srgbClr val="173E68"/>
          </a:solidFill>
          <a:ln w="12700">
            <a:solidFill>
              <a:srgbClr val="3B82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Validate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59893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Prepared for manager review and spike closeout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spike is ready to close with implementation stories as the next step.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966960" y="393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SSL Automation Spike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SILAC • DevSecOps / SysAdmin certificate rotation spike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059669"/>
                </a:solidFill>
              </a:rPr>
              <a:t>CONCLUSION</a:t>
            </a:r>
            <a:endParaRPr lang="en-US" sz="87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Automation is feasible, but should be implemented as an orchestrated workflow rather than a single monolithic script.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2514600"/>
            <a:ext cx="2057400" cy="100584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DigiCert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3611880"/>
            <a:ext cx="1965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Certificate renewal + retrieval via API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37560" y="2514600"/>
            <a:ext cx="2057400" cy="1005840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Fastly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383280" y="3611880"/>
            <a:ext cx="1965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CFDF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External certificate deployment target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89320" y="2514600"/>
            <a:ext cx="205740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NSX-ALB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35040" y="3611880"/>
            <a:ext cx="1965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FF6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Reusable API pattern for CSR / upload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41080" y="2514600"/>
            <a:ext cx="2057400" cy="1005840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TeamCity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686800" y="3611880"/>
            <a:ext cx="1965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7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Orchestrator using parameters + scripts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61488" y="3017520"/>
            <a:ext cx="512064" cy="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13248" y="3017520"/>
            <a:ext cx="512064" cy="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65008" y="3017520"/>
            <a:ext cx="512064" cy="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85800" y="5623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59669"/>
                </a:solidFill>
              </a:rPr>
              <a:t>Recommendation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383280" y="5586984"/>
            <a:ext cx="7543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Proceed to implementation planning: reuse TeamCity/PowerShell patterns, keep SysAdmin-owned domain validation out of scope, and implement Fastly-first external certificate deployment.</a:t>
            </a:r>
            <a:endParaRPr lang="en-US" sz="12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Scope boundary for the implementation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Clarifies what DevSecOps automation owns versus what remains outside the automation scope.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966960" y="393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SSL Automation Spike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SILAC • DevSecOps / SysAdmin certificate rotation spike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521208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59669"/>
                </a:solidFill>
              </a:rPr>
              <a:t>In scope for implementation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1920240"/>
            <a:ext cx="466344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50" dirty="0">
                <a:solidFill>
                  <a:srgbClr val="0F172A"/>
                </a:solidFill>
              </a:rPr>
              <a:t>Renew existing external DigiCert certificates through automation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</a:rPr>
              <a:t>Retrieve renewed certificate and chain from DigiCert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</a:rPr>
              <a:t>Deploy renewed certificate to Fastly for external domains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</a:rPr>
              <a:t>Reuse TeamCity parameterization and PowerShell orchestration pattern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</a:rPr>
              <a:t>Add post-deployment validation and reporting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63640" y="1234440"/>
            <a:ext cx="521208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97706"/>
                </a:solidFill>
              </a:rPr>
              <a:t>Out of scope / owned elsewhere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46520" y="1920240"/>
            <a:ext cx="466344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50" dirty="0">
                <a:solidFill>
                  <a:srgbClr val="0F172A"/>
                </a:solidFill>
              </a:rPr>
              <a:t>Domain validation and pre-validation ownership: SysAdmin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</a:rPr>
              <a:t>Billing/payment method setup: account owner / Kipp / SysAdmin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</a:rPr>
              <a:t>SFTP certificate exception if not routed through Fastly or LB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</a:rPr>
              <a:t>Full Trust Lifecycle Manager rollout unless later approved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</a:rPr>
              <a:t>Manual operational approvals defined by certificate governance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85800" y="5623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</a:rPr>
              <a:t>Closeout point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383280" y="5586984"/>
            <a:ext cx="7543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The spike can close once these boundaries are accepted and implementation tickets are created.</a:t>
            </a:r>
            <a:endParaRPr lang="en-US" sz="12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Current-state findings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biggest discovery: there is already a reusable TeamCity automation pattern.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966960" y="393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SSL Automation Spike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SILAC • DevSecOps / SysAdmin certificate rotation spike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2563EB"/>
                </a:solidFill>
              </a:rPr>
              <a:t>EXISTING TEAMCITY JOB</a:t>
            </a:r>
            <a:endParaRPr lang="en-US" sz="870" dirty="0"/>
          </a:p>
        </p:txBody>
      </p:sp>
      <p:sp>
        <p:nvSpPr>
          <p:cNvPr id="8" name="Text 6"/>
          <p:cNvSpPr/>
          <p:nvPr/>
        </p:nvSpPr>
        <p:spPr>
          <a:xfrm>
            <a:off x="640080" y="148132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“NSX-ALB Certificate Issue” already performs a parameter-driven certificate workflow using PowerShell.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182880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Create CSR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697480" y="2788920"/>
            <a:ext cx="548640" cy="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337560" y="2331720"/>
            <a:ext cx="192024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Issue Certificate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303520" y="2788920"/>
            <a:ext cx="548640" cy="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943600" y="2331720"/>
            <a:ext cx="182880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3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Upload Cert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58200" y="2148840"/>
            <a:ext cx="2514600" cy="365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Important finding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5320" y="2651760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The current issuance step uses internal SILAC SubCA / certReq, not DigiCert. It is a reusable pattern, not the final external cert workflow.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059669"/>
                </a:solidFill>
              </a:rPr>
              <a:t>REUSABLE IMPLEMENTATION ASSETS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822960" y="4434840"/>
            <a:ext cx="530352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0F172A"/>
                </a:solidFill>
              </a:rPr>
              <a:t>TeamCity parameters for CN/SAN and workflow controls</a:t>
            </a:r>
            <a:endParaRPr lang="en-US" sz="1300" dirty="0"/>
          </a:p>
          <a:p>
            <a:r>
              <a:rPr lang="en-US" sz="1300" dirty="0">
                <a:solidFill>
                  <a:srgbClr val="0F172A"/>
                </a:solidFill>
              </a:rPr>
              <a:t>PowerShell API authentication/session handling</a:t>
            </a:r>
            <a:endParaRPr lang="en-US" sz="1300" dirty="0"/>
          </a:p>
          <a:p>
            <a:r>
              <a:rPr lang="en-US" sz="1300" dirty="0">
                <a:solidFill>
                  <a:srgbClr val="0F172A"/>
                </a:solidFill>
              </a:rPr>
              <a:t>Artifact passing between build steps</a:t>
            </a:r>
            <a:endParaRPr lang="en-US" sz="1300" dirty="0"/>
          </a:p>
          <a:p>
            <a:r>
              <a:rPr lang="en-US" sz="1300" dirty="0">
                <a:solidFill>
                  <a:srgbClr val="0F172A"/>
                </a:solidFill>
              </a:rPr>
              <a:t>API-based certificate upload/update model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4160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D97706"/>
                </a:solidFill>
              </a:rPr>
              <a:t>CONFIRMED GAPS FROM CURRENT JOB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6675120" y="4434840"/>
            <a:ext cx="493776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0F172A"/>
                </a:solidFill>
              </a:rPr>
              <a:t>No DigiCert renewal API integration yet</a:t>
            </a:r>
            <a:endParaRPr lang="en-US" sz="1300" dirty="0"/>
          </a:p>
          <a:p>
            <a:r>
              <a:rPr lang="en-US" sz="1300" dirty="0">
                <a:solidFill>
                  <a:srgbClr val="0F172A"/>
                </a:solidFill>
              </a:rPr>
              <a:t>No Fastly deployment automation yet</a:t>
            </a:r>
            <a:endParaRPr lang="en-US" sz="1300" dirty="0"/>
          </a:p>
          <a:p>
            <a:r>
              <a:rPr lang="en-US" sz="1300" dirty="0">
                <a:solidFill>
                  <a:srgbClr val="0F172A"/>
                </a:solidFill>
              </a:rPr>
              <a:t>No live endpoint validation found</a:t>
            </a:r>
            <a:endParaRPr lang="en-US" sz="1300" dirty="0"/>
          </a:p>
          <a:p>
            <a:r>
              <a:rPr lang="en-US" sz="1300" dirty="0">
                <a:solidFill>
                  <a:srgbClr val="0F172A"/>
                </a:solidFill>
              </a:rPr>
              <a:t>No Virtual Service binding update found in script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 capability assessment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What each tool contributes to the renewal workflow.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966960" y="393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SSL Automation Spike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SILAC • DevSecOps / SysAdmin certificate rotation spike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2103120" cy="411480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Tool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97480" y="1143000"/>
            <a:ext cx="4572000" cy="411480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Validated / researched capability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69480" y="1143000"/>
            <a:ext cx="4297680" cy="411480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Implementation implication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655064"/>
            <a:ext cx="2103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F172A"/>
                </a:solidFill>
              </a:rPr>
              <a:t>DigiCert CertCentral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2697480" y="1655064"/>
            <a:ext cx="45720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APIs for certificate order/renewal workflows, status tracking, and certificate management/download.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7269480" y="1655064"/>
            <a:ext cx="4297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Use DigiCert as the renewal + retrieval layer; keep validation/billing dependencies explicit.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594360" y="2496312"/>
            <a:ext cx="210312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F172A"/>
                </a:solidFill>
              </a:rPr>
              <a:t>Fastly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2697480" y="2496312"/>
            <a:ext cx="457200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Custom TLS certificate APIs support managing certificates and private keys for domains.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7269480" y="2496312"/>
            <a:ext cx="42976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Primary external deployment target for public services like Portal, Sentry, Upload, Media, TeamCity, Privacy.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594360" y="3337560"/>
            <a:ext cx="2103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F172A"/>
                </a:solidFill>
              </a:rPr>
              <a:t>NSX-ALB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2697480" y="3337560"/>
            <a:ext cx="45720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Existing TeamCity script proves API-based CSR generation and certificate upload/update.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7269480" y="3337560"/>
            <a:ext cx="4297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Reusable automation pattern; may apply where cert terminates behind/at the load balancer.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594360" y="4178808"/>
            <a:ext cx="210312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F172A"/>
                </a:solidFill>
              </a:rPr>
              <a:t>TeamCity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2697480" y="4178808"/>
            <a:ext cx="457200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Parameters, artifacts, permissions, scripts, job history, and manual/scheduled execution.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7269480" y="4178808"/>
            <a:ext cx="42976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Use as orchestrator; scripts do the actual API work.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685800" y="5623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</a:rPr>
              <a:t>Decision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383280" y="5586984"/>
            <a:ext cx="7543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Start implementation with DigiCert renewal → Fastly deployment; reuse NSX-ALB/TeamCity lessons rather than building a new orchestration model from scratch.</a:t>
            </a:r>
            <a:endParaRPr lang="en-US" sz="12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target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 clean separation of renewal, deployment, and validation.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966960" y="393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SSL Automation Spike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SILAC • DevSecOps / SysAdmin certificate rotation spike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417320" y="2267712"/>
            <a:ext cx="411480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00400" y="2267712"/>
            <a:ext cx="411480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983480" y="2267712"/>
            <a:ext cx="411480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66560" y="2267712"/>
            <a:ext cx="411480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549640" y="2267712"/>
            <a:ext cx="411480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02920" y="1828800"/>
            <a:ext cx="137160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Trigger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Schedule or alert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286000" y="1828800"/>
            <a:ext cx="137160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DigiCert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Renew existing cert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069080" y="1828800"/>
            <a:ext cx="137160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DigiCert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Check order status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852160" y="1828800"/>
            <a:ext cx="137160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DigiCert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Download cert + chain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635240" y="1828800"/>
            <a:ext cx="1371600" cy="914400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Fastly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Upload cert + key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418320" y="1828800"/>
            <a:ext cx="137160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Validate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Public HTTPS check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36576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7C3AED"/>
                </a:solidFill>
              </a:rPr>
              <a:t>VALIDATION GATE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914400" y="3977640"/>
            <a:ext cx="48463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0F172A"/>
                </a:solidFill>
              </a:rPr>
              <a:t>Confirm public endpoint presents renewed certificate</a:t>
            </a:r>
            <a:endParaRPr lang="en-US" sz="1300" dirty="0"/>
          </a:p>
          <a:p>
            <a:r>
              <a:rPr lang="en-US" sz="1300" dirty="0">
                <a:solidFill>
                  <a:srgbClr val="0F172A"/>
                </a:solidFill>
              </a:rPr>
              <a:t>Compare certificate expiration/serial to the DigiCert artifact</a:t>
            </a:r>
            <a:endParaRPr lang="en-US" sz="1300" dirty="0"/>
          </a:p>
          <a:p>
            <a:r>
              <a:rPr lang="en-US" sz="1300" dirty="0">
                <a:solidFill>
                  <a:srgbClr val="0F172A"/>
                </a:solidFill>
              </a:rPr>
              <a:t>Generate Teams/Jira status output for auditability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36576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DC2626"/>
                </a:solidFill>
              </a:rPr>
              <a:t>FAILURE HANDLING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6583680" y="3977640"/>
            <a:ext cx="48463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0F172A"/>
                </a:solidFill>
              </a:rPr>
              <a:t>Stop before activation if API upload fails</a:t>
            </a:r>
            <a:endParaRPr lang="en-US" sz="1300" dirty="0"/>
          </a:p>
          <a:p>
            <a:r>
              <a:rPr lang="en-US" sz="1300" dirty="0">
                <a:solidFill>
                  <a:srgbClr val="0F172A"/>
                </a:solidFill>
              </a:rPr>
              <a:t>Keep old certificate active until validation passes</a:t>
            </a:r>
            <a:endParaRPr lang="en-US" sz="1300" dirty="0"/>
          </a:p>
          <a:p>
            <a:r>
              <a:rPr lang="en-US" sz="1300" dirty="0">
                <a:solidFill>
                  <a:srgbClr val="0F172A"/>
                </a:solidFill>
              </a:rPr>
              <a:t>Alert owner with cert/order/service identifiers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plan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Recommended phased delivery to reduce risk and produce testable increments.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966960" y="393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SSL Automation Spike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SILAC • DevSecOps / SysAdmin certificate rotation spike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14300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Phase 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965960" y="1234440"/>
            <a:ext cx="2331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Discovery hardening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34840" y="1234440"/>
            <a:ext cx="6812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0F172A"/>
                </a:solidFill>
              </a:rPr>
              <a:t>Confirm Fastly TLS configuration, DigiCert order IDs, API permissions, and service account model.</a:t>
            </a:r>
            <a:endParaRPr lang="en-US" sz="1170" dirty="0"/>
          </a:p>
        </p:txBody>
      </p:sp>
      <p:sp>
        <p:nvSpPr>
          <p:cNvPr id="10" name="Text 8"/>
          <p:cNvSpPr/>
          <p:nvPr/>
        </p:nvSpPr>
        <p:spPr>
          <a:xfrm>
            <a:off x="685800" y="1947672"/>
            <a:ext cx="114300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Phase 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965960" y="1947672"/>
            <a:ext cx="2331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DigiCert renewal module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34840" y="1947672"/>
            <a:ext cx="6812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0F172A"/>
                </a:solidFill>
              </a:rPr>
              <a:t>Build script to renew existing certificate, poll status, and retrieve cert/chain artifact.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685800" y="2660904"/>
            <a:ext cx="1143000" cy="438912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Phase 3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965960" y="2660904"/>
            <a:ext cx="2331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Fastly deployment module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34840" y="2660904"/>
            <a:ext cx="6812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0F172A"/>
                </a:solidFill>
              </a:rPr>
              <a:t>Upload certificate/private key and update activation for target TLS domain/cert object.</a:t>
            </a:r>
            <a:endParaRPr lang="en-US" sz="1170" dirty="0"/>
          </a:p>
        </p:txBody>
      </p:sp>
      <p:sp>
        <p:nvSpPr>
          <p:cNvPr id="16" name="Text 14"/>
          <p:cNvSpPr/>
          <p:nvPr/>
        </p:nvSpPr>
        <p:spPr>
          <a:xfrm>
            <a:off x="685800" y="3374136"/>
            <a:ext cx="1143000" cy="438912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Phase 4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965960" y="3374136"/>
            <a:ext cx="2331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Validation + reporting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434840" y="3374136"/>
            <a:ext cx="6812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0F172A"/>
                </a:solidFill>
              </a:rPr>
              <a:t>Verify public endpoint certificate, publish artifacts, and notify Teams/Jira.</a:t>
            </a:r>
            <a:endParaRPr lang="en-US" sz="1170" dirty="0"/>
          </a:p>
        </p:txBody>
      </p:sp>
      <p:sp>
        <p:nvSpPr>
          <p:cNvPr id="19" name="Text 17"/>
          <p:cNvSpPr/>
          <p:nvPr/>
        </p:nvSpPr>
        <p:spPr>
          <a:xfrm>
            <a:off x="685800" y="4087368"/>
            <a:ext cx="1143000" cy="438912"/>
          </a:xfrm>
          <a:prstGeom prst="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Phase 5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965960" y="4087368"/>
            <a:ext cx="2331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Production rollout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434840" y="4087368"/>
            <a:ext cx="6812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0F172A"/>
                </a:solidFill>
              </a:rPr>
              <a:t>Pilot one low-risk domain, then expand to remaining Fastly services.</a:t>
            </a:r>
            <a:endParaRPr lang="en-US" sz="1170" dirty="0"/>
          </a:p>
        </p:txBody>
      </p:sp>
      <p:sp>
        <p:nvSpPr>
          <p:cNvPr id="22" name="Text 20"/>
          <p:cNvSpPr/>
          <p:nvPr/>
        </p:nvSpPr>
        <p:spPr>
          <a:xfrm>
            <a:off x="685800" y="5623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59669"/>
                </a:solidFill>
              </a:rPr>
              <a:t>Start small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383280" y="5586984"/>
            <a:ext cx="7543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Pilot one Fastly service/domain before rolling across Portal, Sentry, Upload, Media, TeamCity, and Privacy.</a:t>
            </a:r>
            <a:endParaRPr lang="en-US" sz="12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work breakdown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Candidate implementation stories after spike closure.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966960" y="393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SSL Automation Spike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SILAC • DevSecOps / SysAdmin certificate rotation spike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109728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Story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65960" y="1188720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Build DigiCert renewal/retrieval script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172200" y="1188720"/>
            <a:ext cx="5074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Output: renewed cert + chain artifact, status handling, no domain validation ownership.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731520" y="1874520"/>
            <a:ext cx="1097280" cy="384048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Story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65960" y="1874520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Build Fastly certificate deployment script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172200" y="1874520"/>
            <a:ext cx="5074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Output: upload/update cert/key and activate against target TLS domain/config.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731520" y="2560320"/>
            <a:ext cx="109728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Story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65960" y="2560320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Create TeamCity orchestration pipeline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72200" y="2560320"/>
            <a:ext cx="5074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Output: parameters, environments, artifacts, secret references, dry-run mode.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731520" y="3246120"/>
            <a:ext cx="1097280" cy="384048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Story 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65960" y="3246120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Add post-deployment validation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72200" y="3246120"/>
            <a:ext cx="5074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Output: live HTTPS cert check, serial/expiry comparison, Teams/Jira update.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731520" y="3931920"/>
            <a:ext cx="1097280" cy="38404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Story 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65960" y="3931920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Pilot + rollback runbook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172200" y="3931920"/>
            <a:ext cx="5074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Output: one-service pilot, rollback method, operational documentation.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685800" y="5623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</a:rPr>
              <a:t>Traceability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383280" y="5586984"/>
            <a:ext cx="7543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All implementation stories should link back to WHC-3344 and reference the reusable TeamCity job discovery.</a:t>
            </a:r>
            <a:endParaRPr lang="en-US" sz="12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 questions and technical debt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Items to resolve before or during implementation.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966960" y="393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SSL Automation Spike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SILAC • DevSecOps / SysAdmin certificate rotation spike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20116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Fastly TLS model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97480" y="1234440"/>
            <a:ext cx="3246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Are current certs self-managed customer certificates, or Fastly-managed subscriptions?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20116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Private key source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697480" y="1920240"/>
            <a:ext cx="3246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Where will the private key originate and how will it be stored/handled securely?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606040"/>
            <a:ext cx="20116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DigiCert identifiers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97480" y="2606040"/>
            <a:ext cx="3246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Which order/certificate IDs map to each external domain?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291840"/>
            <a:ext cx="20116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Approval/billing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697480" y="3291840"/>
            <a:ext cx="3246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Can renewal complete through API without manual payment/approval interruption?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0" y="1234440"/>
            <a:ext cx="20116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Validation design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321040" y="1234440"/>
            <a:ext cx="3246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What exact endpoint, serial, thumbprint, and expiry checks define success?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17920" y="1920240"/>
            <a:ext cx="20116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Secret storage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21040" y="1920240"/>
            <a:ext cx="3246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Where should DigiCert/Fastly API tokens live: TeamCity parameters, CyberArk, or other vault?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0" y="2606040"/>
            <a:ext cx="20116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Rollback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321040" y="2606040"/>
            <a:ext cx="3246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Can Fastly retain old certificate until new certificate is validated?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0" y="3291840"/>
            <a:ext cx="20116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SFTP exception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321040" y="3291840"/>
            <a:ext cx="3246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Is the SFTP cert still outside the standard Fastly/LB path?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7240" y="4709160"/>
            <a:ext cx="2743200" cy="365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Technical debt to avoid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5166360"/>
            <a:ext cx="47548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50" dirty="0">
                <a:solidFill>
                  <a:srgbClr val="0F172A"/>
                </a:solidFill>
              </a:rPr>
              <a:t>Embedding API tokens directly in scripts</a:t>
            </a:r>
            <a:endParaRPr lang="en-US" sz="1250" dirty="0"/>
          </a:p>
          <a:p>
            <a:r>
              <a:rPr lang="en-US" sz="1250" dirty="0">
                <a:solidFill>
                  <a:srgbClr val="0F172A"/>
                </a:solidFill>
              </a:rPr>
              <a:t>No dry-run mode</a:t>
            </a:r>
            <a:endParaRPr lang="en-US" sz="1250" dirty="0"/>
          </a:p>
          <a:p>
            <a:r>
              <a:rPr lang="en-US" sz="1250" dirty="0">
                <a:solidFill>
                  <a:srgbClr val="0F172A"/>
                </a:solidFill>
              </a:rPr>
              <a:t>No audit artifact trail</a:t>
            </a:r>
            <a:endParaRPr lang="en-US" sz="1250" dirty="0"/>
          </a:p>
          <a:p>
            <a:r>
              <a:rPr lang="en-US" sz="1250" dirty="0">
                <a:solidFill>
                  <a:srgbClr val="0F172A"/>
                </a:solidFill>
              </a:rPr>
              <a:t>No rollback path before production rollout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09360" y="4709160"/>
            <a:ext cx="2926080" cy="36576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Questions for manager approval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5166360"/>
            <a:ext cx="45720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50" dirty="0">
                <a:solidFill>
                  <a:srgbClr val="0F172A"/>
                </a:solidFill>
              </a:rPr>
              <a:t>Can we proceed with implementation stories?</a:t>
            </a:r>
            <a:endParaRPr lang="en-US" sz="1250" dirty="0"/>
          </a:p>
          <a:p>
            <a:r>
              <a:rPr lang="en-US" sz="1250" dirty="0">
                <a:solidFill>
                  <a:srgbClr val="0F172A"/>
                </a:solidFill>
              </a:rPr>
              <a:t>Who confirms billing/approval prerequisites?</a:t>
            </a:r>
            <a:endParaRPr lang="en-US" sz="1250" dirty="0"/>
          </a:p>
          <a:p>
            <a:r>
              <a:rPr lang="en-US" sz="1250" dirty="0">
                <a:solidFill>
                  <a:srgbClr val="0F172A"/>
                </a:solidFill>
              </a:rPr>
              <a:t>Which Fastly service should be the pilot?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Ownership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Separate certificate governance from automation execution.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966960" y="393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SSL Automation Spike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SILAC • DevSecOps / SysAdmin certificate rotation spike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3200400" cy="438912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SysAdmin / Certificate Owners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28346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0F172A"/>
                </a:solidFill>
              </a:rPr>
              <a:t>Domain validation / pre-validation</a:t>
            </a:r>
            <a:endParaRPr lang="en-US" sz="1300" dirty="0"/>
          </a:p>
          <a:p>
            <a:r>
              <a:rPr lang="en-US" sz="1300" dirty="0">
                <a:solidFill>
                  <a:srgbClr val="0F172A"/>
                </a:solidFill>
              </a:rPr>
              <a:t>DigiCert account administration</a:t>
            </a:r>
            <a:endParaRPr lang="en-US" sz="1300" dirty="0"/>
          </a:p>
          <a:p>
            <a:r>
              <a:rPr lang="en-US" sz="1300" dirty="0">
                <a:solidFill>
                  <a:srgbClr val="0F172A"/>
                </a:solidFill>
              </a:rPr>
              <a:t>Billing/payment model</a:t>
            </a:r>
            <a:endParaRPr lang="en-US" sz="1300" dirty="0"/>
          </a:p>
          <a:p>
            <a:r>
              <a:rPr lang="en-US" sz="1300" dirty="0">
                <a:solidFill>
                  <a:srgbClr val="0F172A"/>
                </a:solidFill>
              </a:rPr>
              <a:t>Certificate approval policies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26280" y="1325880"/>
            <a:ext cx="320040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DevSecOps / Automation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1965960"/>
            <a:ext cx="28346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0F172A"/>
                </a:solidFill>
              </a:rPr>
              <a:t>TeamCity orchestration</a:t>
            </a:r>
            <a:endParaRPr lang="en-US" sz="1300" dirty="0"/>
          </a:p>
          <a:p>
            <a:r>
              <a:rPr lang="en-US" sz="1300" dirty="0">
                <a:solidFill>
                  <a:srgbClr val="0F172A"/>
                </a:solidFill>
              </a:rPr>
              <a:t>DigiCert renewal + retrieval script</a:t>
            </a:r>
            <a:endParaRPr lang="en-US" sz="1300" dirty="0"/>
          </a:p>
          <a:p>
            <a:r>
              <a:rPr lang="en-US" sz="1300" dirty="0">
                <a:solidFill>
                  <a:srgbClr val="0F172A"/>
                </a:solidFill>
              </a:rPr>
              <a:t>Fastly deployment script</a:t>
            </a:r>
            <a:endParaRPr lang="en-US" sz="1300" dirty="0"/>
          </a:p>
          <a:p>
            <a:r>
              <a:rPr lang="en-US" sz="1300" dirty="0">
                <a:solidFill>
                  <a:srgbClr val="0F172A"/>
                </a:solidFill>
              </a:rPr>
              <a:t>Validation + reporting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21040" y="1325880"/>
            <a:ext cx="3200400" cy="438912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Manager / Governance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0" y="1965960"/>
            <a:ext cx="28346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0F172A"/>
                </a:solidFill>
              </a:rPr>
              <a:t>Approve implementation scope</a:t>
            </a:r>
            <a:endParaRPr lang="en-US" sz="1300" dirty="0"/>
          </a:p>
          <a:p>
            <a:r>
              <a:rPr lang="en-US" sz="1300" dirty="0">
                <a:solidFill>
                  <a:srgbClr val="0F172A"/>
                </a:solidFill>
              </a:rPr>
              <a:t>Prioritize stories</a:t>
            </a:r>
            <a:endParaRPr lang="en-US" sz="1300" dirty="0"/>
          </a:p>
          <a:p>
            <a:r>
              <a:rPr lang="en-US" sz="1300" dirty="0">
                <a:solidFill>
                  <a:srgbClr val="0F172A"/>
                </a:solidFill>
              </a:rPr>
              <a:t>Confirm pilot domain/service</a:t>
            </a:r>
            <a:endParaRPr lang="en-US" sz="1300" dirty="0"/>
          </a:p>
          <a:p>
            <a:r>
              <a:rPr lang="en-US" sz="1300" dirty="0">
                <a:solidFill>
                  <a:srgbClr val="0F172A"/>
                </a:solidFill>
              </a:rPr>
              <a:t>Track WHC-3344 closure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3891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059669"/>
                </a:solidFill>
              </a:rPr>
              <a:t>HANDOFF CRITERION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731520" y="47091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A cert is ready for deployment automation only after SysAdmin-owned validation / approval / billing prerequisites are satisfied.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Spike closeout recommendation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What to tell the manager.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966960" y="393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SSL Automation Spike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11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SILAC • DevSecOps / SysAdmin certificate rotation spike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059669"/>
                </a:solidFill>
              </a:rPr>
              <a:t>CLOSE THE SPIKE</a:t>
            </a:r>
            <a:endParaRPr lang="en-US" sz="87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The spike answered the key feasibility questions and produced a clear implementation path.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41148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2359152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Use TeamCity as the orchestrator and reuse the existing PowerShell/parameter/artifact pattern.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971800"/>
            <a:ext cx="41148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999232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Implement renewal as modular API scripts: DigiCert renewal/retrieval, Fastly deployment, validation.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3611880"/>
            <a:ext cx="41148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3639312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Keep SysAdmin-owned validation/billing/account prerequisites separate but documented as dependencies.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251960"/>
            <a:ext cx="41148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4279392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Move into implementation with pilot-first rollout and post-deployment validation built in.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5257800"/>
            <a:ext cx="1828800" cy="384048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Manager ask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80360" y="52760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Approve closure of WHC-3344 and creation of implementation stories linked back to the spike.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 notes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Public documentation used only to validate general tool capabilities.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966960" y="393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SSL Automation Spike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SILAC • DevSecOps / SysAdmin certificate rotation spike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1325880"/>
            <a:ext cx="99669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0F172A"/>
                </a:solidFill>
              </a:rPr>
              <a:t>DigiCert CertCentral Services API: certificate/order management, renewal, download, and status capabilities.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Fastly Custom TLS Certificates API: managing keys, certificates, TLS domains, and activations.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Existing SILAC TeamCity job: “NSX-ALB Certificate Issue” with PowerShell steps for CSR creation and certificate upload.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274320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Internal evidence reviewed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703320"/>
            <a:ext cx="43891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50" dirty="0">
                <a:solidFill>
                  <a:srgbClr val="0F172A"/>
                </a:solidFill>
              </a:rPr>
              <a:t>TeamCity build steps and parameters</a:t>
            </a:r>
            <a:endParaRPr lang="en-US" sz="1250" dirty="0"/>
          </a:p>
          <a:p>
            <a:r>
              <a:rPr lang="en-US" sz="1250" dirty="0">
                <a:solidFill>
                  <a:srgbClr val="0F172A"/>
                </a:solidFill>
              </a:rPr>
              <a:t>TeamCity build log for CSR-only execution</a:t>
            </a:r>
            <a:endParaRPr lang="en-US" sz="1250" dirty="0"/>
          </a:p>
          <a:p>
            <a:r>
              <a:rPr lang="en-US" sz="1250" dirty="0">
                <a:solidFill>
                  <a:srgbClr val="0F172A"/>
                </a:solidFill>
              </a:rPr>
              <a:t>Fastly CDN services list: Portal, Sentry, Upload, Media, TeamCity, Privacy</a:t>
            </a:r>
            <a:endParaRPr lang="en-US" sz="1250" dirty="0"/>
          </a:p>
          <a:p>
            <a:r>
              <a:rPr lang="en-US" sz="1250" dirty="0">
                <a:solidFill>
                  <a:srgbClr val="0F172A"/>
                </a:solidFill>
              </a:rPr>
              <a:t>WHC-3344 kickoff discussion notes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035040" y="3154680"/>
            <a:ext cx="2743200" cy="41148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External docs referenced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703320"/>
            <a:ext cx="43891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50" dirty="0">
                <a:solidFill>
                  <a:srgbClr val="0F172A"/>
                </a:solidFill>
              </a:rPr>
              <a:t>DigiCert CertCentral API documentation</a:t>
            </a:r>
            <a:endParaRPr lang="en-US" sz="1250" dirty="0"/>
          </a:p>
          <a:p>
            <a:r>
              <a:rPr lang="en-US" sz="1250" dirty="0">
                <a:solidFill>
                  <a:srgbClr val="0F172A"/>
                </a:solidFill>
              </a:rPr>
              <a:t>Fastly Custom TLS certificate API documentation</a:t>
            </a:r>
            <a:endParaRPr lang="en-US" sz="1250" dirty="0"/>
          </a:p>
          <a:p>
            <a:r>
              <a:rPr lang="en-US" sz="1250" dirty="0">
                <a:solidFill>
                  <a:srgbClr val="0F172A"/>
                </a:solidFill>
              </a:rPr>
              <a:t>Fastly TLS domains/private keys documentation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SILAC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SSL Certificate Rotation Automation Spike</dc:title>
  <dc:subject>SSL Certificate Rotation Automation Spike</dc:subject>
  <dc:creator>OpenAI</dc:creator>
  <cp:lastModifiedBy>OpenAI</cp:lastModifiedBy>
  <cp:revision>1</cp:revision>
  <dcterms:created xsi:type="dcterms:W3CDTF">2026-07-21T14:11:01Z</dcterms:created>
  <dcterms:modified xsi:type="dcterms:W3CDTF">2026-07-21T14:11:01Z</dcterms:modified>
</cp:coreProperties>
</file>